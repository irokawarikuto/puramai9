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0690225" cy="7562850"/>
  <p:notesSz cx="7562850" cy="106902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C6F5808-6CA3-4482-81BD-E17B58EC6B0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6EE2FD-4CB7-40BB-9C45-2D16337250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F55B43-30DB-44C2-BB8D-8A4A8A077C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052773-D737-4651-B79D-3D5E28DA57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3FC1AB-6356-411B-AF61-2066DD35C9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34240" y="301680"/>
            <a:ext cx="96199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34240" y="1769400"/>
            <a:ext cx="9619920" cy="438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7955280" y="-1005840"/>
            <a:ext cx="3840120" cy="3840120"/>
          </a:xfrm>
          <a:prstGeom prst="ellipse">
            <a:avLst/>
          </a:prstGeom>
          <a:noFill/>
          <a:ln w="254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052560" y="182880"/>
            <a:ext cx="2377080" cy="2377080"/>
          </a:xfrm>
          <a:prstGeom prst="ellipse">
            <a:avLst/>
          </a:prstGeom>
          <a:noFill/>
          <a:ln w="1905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188720" y="5120640"/>
            <a:ext cx="3657240" cy="3657240"/>
          </a:xfrm>
          <a:prstGeom prst="ellipse">
            <a:avLst/>
          </a:prstGeom>
          <a:noFill/>
          <a:ln w="254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0" y="1417320"/>
            <a:ext cx="10689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0" spc="-1" strike="noStrike">
                <a:solidFill>
                  <a:srgbClr val="ffffff"/>
                </a:solidFill>
                <a:latin typeface="Meiryo"/>
                <a:ea typeface="Meiryo"/>
              </a:rPr>
              <a:t>±9</a:t>
            </a:r>
            <a:endParaRPr b="0" lang="en-US" sz="1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967120" y="3611880"/>
            <a:ext cx="4754520" cy="4068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0" y="3703320"/>
            <a:ext cx="10689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398" strike="noStrike">
                <a:solidFill>
                  <a:srgbClr val="e6cc6a"/>
                </a:solidFill>
                <a:latin typeface="Meiryo"/>
                <a:ea typeface="Meiryo"/>
              </a:rPr>
              <a:t>プラマイ・ナイン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914400" y="4617720"/>
            <a:ext cx="8860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c9d4ec"/>
                </a:solidFill>
                <a:latin typeface="Meiryo"/>
                <a:ea typeface="Meiryo"/>
              </a:rPr>
              <a:t>一手で天国と地獄が入れ替わる、運命を賭ける二人対戦の心理戦カードバトル。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458360" y="5349240"/>
            <a:ext cx="2285640" cy="868320"/>
          </a:xfrm>
          <a:prstGeom prst="roundRect">
            <a:avLst>
              <a:gd name="adj" fmla="val 8421"/>
            </a:avLst>
          </a:prstGeom>
          <a:solidFill>
            <a:srgbClr val="1e3061"/>
          </a:solidFill>
          <a:ln w="127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1458360" y="5349240"/>
            <a:ext cx="2285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zh-CN" sz="1800" spc="-1" strike="noStrike">
                <a:solidFill>
                  <a:srgbClr val="e6cc6a"/>
                </a:solidFill>
                <a:latin typeface="Meiryo"/>
                <a:ea typeface="Meiryo"/>
              </a:rPr>
              <a:t>運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aebbd8"/>
                </a:solidFill>
                <a:latin typeface="Meiryo"/>
                <a:ea typeface="Meiryo"/>
              </a:rPr>
              <a:t>コイントス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4201560" y="5349240"/>
            <a:ext cx="2285640" cy="868320"/>
          </a:xfrm>
          <a:prstGeom prst="roundRect">
            <a:avLst>
              <a:gd name="adj" fmla="val 8421"/>
            </a:avLst>
          </a:prstGeom>
          <a:solidFill>
            <a:srgbClr val="1e3061"/>
          </a:solidFill>
          <a:ln w="127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201560" y="5349240"/>
            <a:ext cx="2285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zh-CN" sz="1800" spc="-1" strike="noStrike">
                <a:solidFill>
                  <a:srgbClr val="e6cc6a"/>
                </a:solidFill>
                <a:latin typeface="Meiryo"/>
                <a:ea typeface="Meiryo"/>
              </a:rPr>
              <a:t>計算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aebbd8"/>
                </a:solidFill>
                <a:latin typeface="Meiryo"/>
                <a:ea typeface="Meiryo"/>
              </a:rPr>
              <a:t>数字の合計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944760" y="5349240"/>
            <a:ext cx="2285640" cy="868320"/>
          </a:xfrm>
          <a:prstGeom prst="roundRect">
            <a:avLst>
              <a:gd name="adj" fmla="val 8421"/>
            </a:avLst>
          </a:prstGeom>
          <a:solidFill>
            <a:srgbClr val="1e3061"/>
          </a:solidFill>
          <a:ln w="127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944760" y="5349240"/>
            <a:ext cx="2285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zh-CN" sz="1800" spc="-1" strike="noStrike">
                <a:solidFill>
                  <a:srgbClr val="e6cc6a"/>
                </a:solidFill>
                <a:latin typeface="Meiryo"/>
                <a:ea typeface="Meiryo"/>
              </a:rPr>
              <a:t>読み合い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aebbd8"/>
                </a:solidFill>
                <a:latin typeface="Meiryo"/>
                <a:ea typeface="Meiryo"/>
              </a:rPr>
              <a:t>相手の心理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40080" y="68580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aebbd8"/>
                </a:solidFill>
                <a:latin typeface="Meiryo"/>
                <a:ea typeface="Meiryo"/>
              </a:rPr>
              <a:t>神ゲー創造主エボリューション　企画書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934600" y="65653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e6cc6a"/>
                </a:solidFill>
                <a:latin typeface="Meiryo"/>
                <a:ea typeface="Meiryo"/>
              </a:rPr>
              <a:t>チーム名：</a:t>
            </a:r>
            <a:r>
              <a:rPr b="1" lang="en-US" sz="1500" spc="-1" strike="noStrike">
                <a:solidFill>
                  <a:srgbClr val="e6cc6a"/>
                </a:solidFill>
                <a:latin typeface="Meiryo"/>
                <a:ea typeface="Meiryo"/>
              </a:rPr>
              <a:t>Noad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5934600" y="694944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b99b8"/>
                </a:solidFill>
                <a:latin typeface="Meiryo"/>
                <a:ea typeface="Meiryo"/>
              </a:rPr>
              <a:t>Never Overcome All Difficulties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640080" y="45720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c9a227"/>
                </a:solidFill>
                <a:latin typeface="Meiryo"/>
                <a:ea typeface="Meiryo"/>
              </a:rPr>
              <a:t>01</a:t>
            </a:r>
            <a:r>
              <a:rPr b="1" lang="zh-CN" sz="2800" spc="-1" strike="noStrike">
                <a:solidFill>
                  <a:srgbClr val="c9a227"/>
                </a:solidFill>
                <a:latin typeface="Meiryo"/>
                <a:ea typeface="Meiryo"/>
              </a:rPr>
              <a:t>　</a:t>
            </a:r>
            <a:r>
              <a:rPr b="1" lang="zh-CN" sz="2800" spc="-1" strike="noStrike">
                <a:solidFill>
                  <a:srgbClr val="1b2238"/>
                </a:solidFill>
                <a:latin typeface="Meiryo"/>
                <a:ea typeface="Meiryo"/>
              </a:rPr>
              <a:t>このゲームの革新性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658440" y="1097280"/>
            <a:ext cx="9408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50" spc="-1" strike="noStrike">
                <a:solidFill>
                  <a:srgbClr val="5c667e"/>
                </a:solidFill>
                <a:latin typeface="Meiryo"/>
                <a:ea typeface="Meiryo"/>
              </a:rPr>
              <a:t>運・計算・心理戦が “ 一手 ” に同居する。一撃が天国にも地獄にもなる、新しい対戦構造。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658440" y="1691640"/>
            <a:ext cx="2889000" cy="223992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914400" y="1965960"/>
            <a:ext cx="566640" cy="566640"/>
          </a:xfrm>
          <a:prstGeom prst="ellipse">
            <a:avLst/>
          </a:prstGeom>
          <a:solidFill>
            <a:srgbClr val="14224a"/>
          </a:solidFill>
          <a:ln w="1905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914400" y="19659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6cc6a"/>
                </a:solidFill>
                <a:latin typeface="Meiryo"/>
                <a:ea typeface="Meiryo"/>
              </a:rPr>
              <a:t>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1591200" y="194760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238"/>
                </a:solidFill>
                <a:latin typeface="Meiryo"/>
                <a:ea typeface="Meiryo"/>
              </a:rPr>
              <a:t>0</a:t>
            </a:r>
            <a:r>
              <a:rPr b="1" lang="zh-CN" sz="1550" spc="-1" strike="noStrike">
                <a:solidFill>
                  <a:srgbClr val="1b2238"/>
                </a:solidFill>
                <a:latin typeface="Meiryo"/>
                <a:ea typeface="Meiryo"/>
              </a:rPr>
              <a:t>と</a:t>
            </a:r>
            <a:r>
              <a:rPr b="1" lang="en-US" sz="1550" spc="-1" strike="noStrike">
                <a:solidFill>
                  <a:srgbClr val="1b2238"/>
                </a:solidFill>
                <a:latin typeface="Meiryo"/>
                <a:ea typeface="Meiryo"/>
              </a:rPr>
              <a:t>200</a:t>
            </a:r>
            <a:r>
              <a:rPr b="1" lang="zh-CN" sz="1550" spc="-1" strike="noStrike">
                <a:solidFill>
                  <a:srgbClr val="1b2238"/>
                </a:solidFill>
                <a:latin typeface="Meiryo"/>
                <a:ea typeface="Meiryo"/>
              </a:rPr>
              <a:t>の綱引き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951120" y="2715840"/>
            <a:ext cx="2340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zh-CN" sz="1150" spc="-1" strike="noStrike">
                <a:solidFill>
                  <a:srgbClr val="3c455c"/>
                </a:solidFill>
                <a:latin typeface="Meiryo"/>
                <a:ea typeface="Meiryo"/>
              </a:rPr>
              <a:t>相手の</a:t>
            </a:r>
            <a:r>
              <a:rPr b="0" lang="en-US" sz="1150" spc="-1" strike="noStrike">
                <a:solidFill>
                  <a:srgbClr val="3c455c"/>
                </a:solidFill>
                <a:latin typeface="Meiryo"/>
                <a:ea typeface="Meiryo"/>
              </a:rPr>
              <a:t>HP</a:t>
            </a:r>
            <a:r>
              <a:rPr b="0" lang="zh-CN" sz="1150" spc="-1" strike="noStrike">
                <a:solidFill>
                  <a:srgbClr val="3c455c"/>
                </a:solidFill>
                <a:latin typeface="Meiryo"/>
                <a:ea typeface="Meiryo"/>
              </a:rPr>
              <a:t>を </a:t>
            </a:r>
            <a:r>
              <a:rPr b="0" lang="en-US" sz="1150" spc="-1" strike="noStrike">
                <a:solidFill>
                  <a:srgbClr val="3c455c"/>
                </a:solidFill>
                <a:latin typeface="Meiryo"/>
                <a:ea typeface="Meiryo"/>
              </a:rPr>
              <a:t>0 </a:t>
            </a:r>
            <a:r>
              <a:rPr b="0" lang="zh-CN" sz="1150" spc="-1" strike="noStrike">
                <a:solidFill>
                  <a:srgbClr val="3c455c"/>
                </a:solidFill>
                <a:latin typeface="Meiryo"/>
                <a:ea typeface="Meiryo"/>
              </a:rPr>
              <a:t>でも </a:t>
            </a:r>
            <a:r>
              <a:rPr b="0" lang="en-US" sz="1150" spc="-1" strike="noStrike">
                <a:solidFill>
                  <a:srgbClr val="3c455c"/>
                </a:solidFill>
                <a:latin typeface="Meiryo"/>
                <a:ea typeface="Meiryo"/>
              </a:rPr>
              <a:t>200 </a:t>
            </a:r>
            <a:r>
              <a:rPr b="0" lang="zh-CN" sz="1150" spc="-1" strike="noStrike">
                <a:solidFill>
                  <a:srgbClr val="3c455c"/>
                </a:solidFill>
                <a:latin typeface="Meiryo"/>
                <a:ea typeface="Meiryo"/>
              </a:rPr>
              <a:t>でも、どちらの端へ押し切っても勝ち。削る／押し上げるの二択を状況で切り替える、勝ち筋が二方向ある盤面。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3899880" y="1691640"/>
            <a:ext cx="2889000" cy="223992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4155840" y="1965960"/>
            <a:ext cx="566640" cy="566640"/>
          </a:xfrm>
          <a:prstGeom prst="ellipse">
            <a:avLst/>
          </a:prstGeom>
          <a:solidFill>
            <a:srgbClr val="14224a"/>
          </a:solidFill>
          <a:ln w="1905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4155840" y="19659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6cc6a"/>
                </a:solidFill>
                <a:latin typeface="Meiryo"/>
                <a:ea typeface="Meiryo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4832640" y="194760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50" spc="-1" strike="noStrike">
                <a:solidFill>
                  <a:srgbClr val="1b2238"/>
                </a:solidFill>
                <a:latin typeface="Meiryo"/>
                <a:ea typeface="Meiryo"/>
              </a:rPr>
              <a:t>偶奇で決まる “ 送り先 ”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4192560" y="2715840"/>
            <a:ext cx="2340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zh-CN" sz="1150" spc="-1" strike="noStrike">
                <a:solidFill>
                  <a:srgbClr val="3c455c"/>
                </a:solidFill>
                <a:latin typeface="Meiryo"/>
                <a:ea typeface="Meiryo"/>
              </a:rPr>
              <a:t>自分の合計の偶奇とコインの偶奇が一致すれば相手に命中、外せば自分に返る（自爆）。攻撃が誰に当たるかを賭ける、独自の判定。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7141320" y="1691640"/>
            <a:ext cx="2889000" cy="223992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7397640" y="1965960"/>
            <a:ext cx="566640" cy="566640"/>
          </a:xfrm>
          <a:prstGeom prst="ellipse">
            <a:avLst/>
          </a:prstGeom>
          <a:solidFill>
            <a:srgbClr val="14224a"/>
          </a:solidFill>
          <a:ln w="19050">
            <a:solidFill>
              <a:srgbClr val="c9a2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7397640" y="19659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6cc6a"/>
                </a:solidFill>
                <a:latin typeface="Meiryo"/>
                <a:ea typeface="Meiryo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8074080" y="194760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50" spc="-1" strike="noStrike">
                <a:solidFill>
                  <a:srgbClr val="1b2238"/>
                </a:solidFill>
                <a:latin typeface="Meiryo"/>
                <a:ea typeface="Meiryo"/>
              </a:rPr>
              <a:t>強い手ほど、返ると痛い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7434000" y="2715840"/>
            <a:ext cx="2340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zh-CN" sz="1150" spc="-1" strike="noStrike">
                <a:solidFill>
                  <a:srgbClr val="3c455c"/>
                </a:solidFill>
                <a:latin typeface="Meiryo"/>
                <a:ea typeface="Meiryo"/>
              </a:rPr>
              <a:t>出す枚数で賭け金を自分で決める。大きく撃てばハイリスク・ハイリターン、小さく撃てば安全。運の二面性をプレイヤーが選ぶ。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658440" y="4572000"/>
            <a:ext cx="1554120" cy="868320"/>
          </a:xfrm>
          <a:prstGeom prst="rect">
            <a:avLst/>
          </a:prstGeom>
          <a:solidFill>
            <a:srgbClr val="b23a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2212920" y="4572000"/>
            <a:ext cx="6263280" cy="868320"/>
          </a:xfrm>
          <a:prstGeom prst="rect">
            <a:avLst/>
          </a:prstGeom>
          <a:solidFill>
            <a:srgbClr val="e2e9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8476560" y="4572000"/>
            <a:ext cx="1554120" cy="868320"/>
          </a:xfrm>
          <a:prstGeom prst="rect">
            <a:avLst/>
          </a:prstGeom>
          <a:solidFill>
            <a:srgbClr val="b23a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658440" y="4572000"/>
            <a:ext cx="1554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2000" spc="-1" strike="noStrike">
                <a:solidFill>
                  <a:srgbClr val="ffffff"/>
                </a:solidFill>
                <a:latin typeface="Meiryo"/>
                <a:ea typeface="Meiryo"/>
              </a:rPr>
              <a:t>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敗北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8476560" y="4572000"/>
            <a:ext cx="1554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2000" spc="-1" strike="noStrike">
                <a:solidFill>
                  <a:srgbClr val="ffffff"/>
                </a:solidFill>
                <a:latin typeface="Meiryo"/>
                <a:ea typeface="Meiryo"/>
              </a:rPr>
              <a:t>200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敗北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2212920" y="4572000"/>
            <a:ext cx="6263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b2238"/>
                </a:solidFill>
                <a:latin typeface="Meiryo"/>
                <a:ea typeface="Meiryo"/>
              </a:rPr>
              <a:t>← − </a:t>
            </a:r>
            <a:r>
              <a:rPr b="1" lang="zh-CN" sz="1250" spc="-1" strike="noStrike">
                <a:solidFill>
                  <a:srgbClr val="1b2238"/>
                </a:solidFill>
                <a:latin typeface="Meiryo"/>
                <a:ea typeface="Meiryo"/>
              </a:rPr>
              <a:t>カードで削り落とす　　安全圏 </a:t>
            </a:r>
            <a:r>
              <a:rPr b="1" lang="en-US" sz="1250" spc="-1" strike="noStrike">
                <a:solidFill>
                  <a:srgbClr val="1b2238"/>
                </a:solidFill>
                <a:latin typeface="Meiryo"/>
                <a:ea typeface="Meiryo"/>
              </a:rPr>
              <a:t>( 1 </a:t>
            </a:r>
            <a:r>
              <a:rPr b="1" lang="zh-CN" sz="1250" spc="-1" strike="noStrike">
                <a:solidFill>
                  <a:srgbClr val="1b2238"/>
                </a:solidFill>
                <a:latin typeface="Meiryo"/>
                <a:ea typeface="Meiryo"/>
              </a:rPr>
              <a:t>〜 </a:t>
            </a:r>
            <a:r>
              <a:rPr b="1" lang="en-US" sz="1250" spc="-1" strike="noStrike">
                <a:solidFill>
                  <a:srgbClr val="1b2238"/>
                </a:solidFill>
                <a:latin typeface="Meiryo"/>
                <a:ea typeface="Meiryo"/>
              </a:rPr>
              <a:t>199 )</a:t>
            </a:r>
            <a:r>
              <a:rPr b="1" lang="zh-CN" sz="1250" spc="-1" strike="noStrike">
                <a:solidFill>
                  <a:srgbClr val="1b2238"/>
                </a:solidFill>
                <a:latin typeface="Meiryo"/>
                <a:ea typeface="Meiryo"/>
              </a:rPr>
              <a:t>　　</a:t>
            </a:r>
            <a:r>
              <a:rPr b="1" lang="en-US" sz="1250" spc="-1" strike="noStrike">
                <a:solidFill>
                  <a:srgbClr val="1b2238"/>
                </a:solidFill>
                <a:latin typeface="Meiryo"/>
                <a:ea typeface="Meiryo"/>
              </a:rPr>
              <a:t>+ </a:t>
            </a:r>
            <a:r>
              <a:rPr b="1" lang="zh-CN" sz="1250" spc="-1" strike="noStrike">
                <a:solidFill>
                  <a:srgbClr val="1b2238"/>
                </a:solidFill>
                <a:latin typeface="Meiryo"/>
                <a:ea typeface="Meiryo"/>
              </a:rPr>
              <a:t>カードで押し上げる →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3"/>
          <p:cNvSpPr/>
          <p:nvPr/>
        </p:nvSpPr>
        <p:spPr>
          <a:xfrm>
            <a:off x="4613040" y="4114800"/>
            <a:ext cx="1462680" cy="420120"/>
          </a:xfrm>
          <a:prstGeom prst="roundRect">
            <a:avLst>
              <a:gd name="adj" fmla="val 13043"/>
            </a:avLst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4613040" y="4114800"/>
            <a:ext cx="1462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4224a"/>
                </a:solidFill>
                <a:latin typeface="Meiryo"/>
                <a:ea typeface="Meiryo"/>
              </a:rPr>
              <a:t>100 </a:t>
            </a:r>
            <a:r>
              <a:rPr b="1" lang="zh-CN" sz="1150" spc="-1" strike="noStrike">
                <a:solidFill>
                  <a:srgbClr val="14224a"/>
                </a:solidFill>
                <a:latin typeface="Meiryo"/>
                <a:ea typeface="Meiryo"/>
              </a:rPr>
              <a:t>開始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5"/>
          <p:cNvSpPr/>
          <p:nvPr/>
        </p:nvSpPr>
        <p:spPr>
          <a:xfrm>
            <a:off x="658440" y="5806440"/>
            <a:ext cx="9372240" cy="1078560"/>
          </a:xfrm>
          <a:prstGeom prst="roundRect">
            <a:avLst>
              <a:gd name="adj" fmla="val 7627"/>
            </a:avLst>
          </a:prstGeom>
          <a:solidFill>
            <a:srgbClr val="14224a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960120" y="5943600"/>
            <a:ext cx="8768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cc6a"/>
                </a:solidFill>
                <a:latin typeface="Meiryo"/>
                <a:ea typeface="Meiryo"/>
              </a:rPr>
              <a:t>なぜ新しいか　</a:t>
            </a:r>
            <a:r>
              <a:rPr b="0" lang="zh-CN" sz="1300" spc="-1" strike="noStrike">
                <a:solidFill>
                  <a:srgbClr val="dce4f4"/>
                </a:solidFill>
                <a:latin typeface="Meiryo"/>
                <a:ea typeface="Meiryo"/>
              </a:rPr>
              <a:t>既存のカードゲームが「相手の</a:t>
            </a:r>
            <a:r>
              <a:rPr b="0" lang="en-US" sz="1300" spc="-1" strike="noStrike">
                <a:solidFill>
                  <a:srgbClr val="dce4f4"/>
                </a:solidFill>
                <a:latin typeface="Meiryo"/>
                <a:ea typeface="Meiryo"/>
              </a:rPr>
              <a:t>HP</a:t>
            </a:r>
            <a:r>
              <a:rPr b="0" lang="zh-CN" sz="1300" spc="-1" strike="noStrike">
                <a:solidFill>
                  <a:srgbClr val="dce4f4"/>
                </a:solidFill>
                <a:latin typeface="Meiryo"/>
                <a:ea typeface="Meiryo"/>
              </a:rPr>
              <a:t>を </a:t>
            </a:r>
            <a:r>
              <a:rPr b="0" lang="en-US" sz="1300" spc="-1" strike="noStrike">
                <a:solidFill>
                  <a:srgbClr val="dce4f4"/>
                </a:solidFill>
                <a:latin typeface="Meiryo"/>
                <a:ea typeface="Meiryo"/>
              </a:rPr>
              <a:t>0 </a:t>
            </a:r>
            <a:r>
              <a:rPr b="0" lang="zh-CN" sz="1300" spc="-1" strike="noStrike">
                <a:solidFill>
                  <a:srgbClr val="dce4f4"/>
                </a:solidFill>
                <a:latin typeface="Meiryo"/>
                <a:ea typeface="Meiryo"/>
              </a:rPr>
              <a:t>にする」一方向の競争なのに対し、</a:t>
            </a:r>
            <a:r>
              <a:rPr b="0" lang="en-US" sz="1300" spc="-1" strike="noStrike">
                <a:solidFill>
                  <a:srgbClr val="dce4f4"/>
                </a:solidFill>
                <a:latin typeface="Meiryo"/>
                <a:ea typeface="Meiryo"/>
              </a:rPr>
              <a:t>±9 </a:t>
            </a:r>
            <a:r>
              <a:rPr b="0" lang="zh-CN" sz="1300" spc="-1" strike="noStrike">
                <a:solidFill>
                  <a:srgbClr val="dce4f4"/>
                </a:solidFill>
                <a:latin typeface="Meiryo"/>
                <a:ea typeface="Meiryo"/>
              </a:rPr>
              <a:t>は </a:t>
            </a:r>
            <a:r>
              <a:rPr b="1" lang="zh-CN" sz="1300" spc="-1" strike="noStrike">
                <a:solidFill>
                  <a:srgbClr val="ffffff"/>
                </a:solidFill>
                <a:latin typeface="Meiryo"/>
                <a:ea typeface="Meiryo"/>
              </a:rPr>
              <a:t>両端への綱引き 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× </a:t>
            </a:r>
            <a:r>
              <a:rPr b="1" lang="zh-CN" sz="1300" spc="-1" strike="noStrike">
                <a:solidFill>
                  <a:srgbClr val="ffffff"/>
                </a:solidFill>
                <a:latin typeface="Meiryo"/>
                <a:ea typeface="Meiryo"/>
              </a:rPr>
              <a:t>偶奇への賭け 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× </a:t>
            </a:r>
            <a:r>
              <a:rPr b="1" lang="zh-CN" sz="1300" spc="-1" strike="noStrike">
                <a:solidFill>
                  <a:srgbClr val="ffffff"/>
                </a:solidFill>
                <a:latin typeface="Meiryo"/>
                <a:ea typeface="Meiryo"/>
              </a:rPr>
              <a:t>自爆のリスク選択</a:t>
            </a:r>
            <a:r>
              <a:rPr b="0" lang="en-US" sz="1300" spc="-1" strike="noStrike">
                <a:solidFill>
                  <a:srgbClr val="dce4f4"/>
                </a:solidFill>
                <a:latin typeface="Meiryo"/>
                <a:ea typeface="Meiryo"/>
              </a:rPr>
              <a:t> を一手に重ねた。計算で組み、運に賭け、相手を読む——三つの面白さが同時に走る。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640080" y="45720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c9a227"/>
                </a:solidFill>
                <a:latin typeface="Meiryo"/>
                <a:ea typeface="Meiryo"/>
              </a:rPr>
              <a:t>02</a:t>
            </a:r>
            <a:r>
              <a:rPr b="1" lang="zh-CN" sz="2800" spc="-1" strike="noStrike">
                <a:solidFill>
                  <a:srgbClr val="c9a227"/>
                </a:solidFill>
                <a:latin typeface="Meiryo"/>
                <a:ea typeface="Meiryo"/>
              </a:rPr>
              <a:t>　</a:t>
            </a:r>
            <a:r>
              <a:rPr b="1" lang="zh-CN" sz="2800" spc="-1" strike="noStrike">
                <a:solidFill>
                  <a:srgbClr val="1b2238"/>
                </a:solidFill>
                <a:latin typeface="Meiryo"/>
                <a:ea typeface="Meiryo"/>
              </a:rPr>
              <a:t>ゲームシステム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658440" y="10972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50" spc="-1" strike="noStrike">
                <a:solidFill>
                  <a:srgbClr val="5c667e"/>
                </a:solidFill>
                <a:latin typeface="Meiryo"/>
                <a:ea typeface="Meiryo"/>
              </a:rPr>
              <a:t>テキストを読ませない “ 数字と色だけ ” のカード。覚える効果文はゼロ。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658440" y="15544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4224a"/>
                </a:solidFill>
                <a:latin typeface="Meiryo"/>
                <a:ea typeface="Meiryo"/>
              </a:rPr>
              <a:t>1</a:t>
            </a:r>
            <a:r>
              <a:rPr b="1" lang="zh-CN" sz="1400" spc="-1" strike="noStrike">
                <a:solidFill>
                  <a:srgbClr val="14224a"/>
                </a:solidFill>
                <a:latin typeface="Meiryo"/>
                <a:ea typeface="Meiryo"/>
              </a:rPr>
              <a:t>ラウンドの流れ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658440" y="1883520"/>
            <a:ext cx="1481040" cy="84096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658440" y="1883520"/>
            <a:ext cx="14810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c9a227"/>
                </a:solidFill>
                <a:latin typeface="Meiryo"/>
                <a:ea typeface="Meiryo"/>
              </a:rPr>
              <a:t>①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b2238"/>
                </a:solidFill>
                <a:latin typeface="Meiryo"/>
                <a:ea typeface="Meiryo"/>
              </a:rPr>
              <a:t>ドロー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2121480" y="1883520"/>
            <a:ext cx="2008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67e"/>
                </a:solidFill>
                <a:latin typeface="Meiryo"/>
                <a:ea typeface="Meiryo"/>
              </a:rPr>
              <a:t>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2304360" y="1883520"/>
            <a:ext cx="1481040" cy="840960"/>
          </a:xfrm>
          <a:prstGeom prst="roundRect">
            <a:avLst>
              <a:gd name="adj" fmla="val 7609"/>
            </a:avLst>
          </a:prstGeom>
          <a:solidFill>
            <a:srgbClr val="14224a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2304360" y="1883520"/>
            <a:ext cx="14810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e6cc6a"/>
                </a:solidFill>
                <a:latin typeface="Meiryo"/>
                <a:ea typeface="Meiryo"/>
              </a:rPr>
              <a:t>②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コイン投げ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3767400" y="1883520"/>
            <a:ext cx="2008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67e"/>
                </a:solidFill>
                <a:latin typeface="Meiryo"/>
                <a:ea typeface="Meiryo"/>
              </a:rPr>
              <a:t>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3950280" y="1883520"/>
            <a:ext cx="1481040" cy="84096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3950280" y="1883520"/>
            <a:ext cx="14810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c9a227"/>
                </a:solidFill>
                <a:latin typeface="Meiryo"/>
                <a:ea typeface="Meiryo"/>
              </a:rPr>
              <a:t>③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b2238"/>
                </a:solidFill>
                <a:latin typeface="Meiryo"/>
                <a:ea typeface="Meiryo"/>
              </a:rPr>
              <a:t>前半を伏せる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5413320" y="1883520"/>
            <a:ext cx="2008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67e"/>
                </a:solidFill>
                <a:latin typeface="Meiryo"/>
                <a:ea typeface="Meiryo"/>
              </a:rPr>
              <a:t>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5596200" y="1883520"/>
            <a:ext cx="1481040" cy="84096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5596200" y="1883520"/>
            <a:ext cx="14810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c9a227"/>
                </a:solidFill>
                <a:latin typeface="Meiryo"/>
                <a:ea typeface="Meiryo"/>
              </a:rPr>
              <a:t>④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b2238"/>
                </a:solidFill>
                <a:latin typeface="Meiryo"/>
                <a:ea typeface="Meiryo"/>
              </a:rPr>
              <a:t>アイテム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7059240" y="1883520"/>
            <a:ext cx="2008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67e"/>
                </a:solidFill>
                <a:latin typeface="Meiryo"/>
                <a:ea typeface="Meiryo"/>
              </a:rPr>
              <a:t>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7242120" y="1883520"/>
            <a:ext cx="1481040" cy="84096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7242120" y="1883520"/>
            <a:ext cx="14810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c9a227"/>
                </a:solidFill>
                <a:latin typeface="Meiryo"/>
                <a:ea typeface="Meiryo"/>
              </a:rPr>
              <a:t>⑤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b2238"/>
                </a:solidFill>
                <a:latin typeface="Meiryo"/>
                <a:ea typeface="Meiryo"/>
              </a:rPr>
              <a:t>後半を伏せる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8705160" y="1883520"/>
            <a:ext cx="2008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67e"/>
                </a:solidFill>
                <a:latin typeface="Meiryo"/>
                <a:ea typeface="Meiryo"/>
              </a:rPr>
              <a:t>›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8"/>
          <p:cNvSpPr/>
          <p:nvPr/>
        </p:nvSpPr>
        <p:spPr>
          <a:xfrm>
            <a:off x="8888040" y="1883520"/>
            <a:ext cx="1481040" cy="84096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8888040" y="1883520"/>
            <a:ext cx="14810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500" spc="-1" strike="noStrike">
                <a:solidFill>
                  <a:srgbClr val="c9a227"/>
                </a:solidFill>
                <a:latin typeface="Meiryo"/>
                <a:ea typeface="Meiryo"/>
              </a:rPr>
              <a:t>⑥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b2238"/>
                </a:solidFill>
                <a:latin typeface="Meiryo"/>
                <a:ea typeface="Meiryo"/>
              </a:rPr>
              <a:t>結果判定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658440" y="2761560"/>
            <a:ext cx="9372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1100" spc="-1" strike="noStrike">
                <a:solidFill>
                  <a:srgbClr val="5c667e"/>
                </a:solidFill>
                <a:latin typeface="Meiryo"/>
                <a:ea typeface="Meiryo"/>
              </a:rPr>
              <a:t>コインを最初に投げ、その手番の “ 当たり偶奇 ” を全員に公開。プレイヤーはそれを見てから手を組む。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1"/>
          <p:cNvSpPr/>
          <p:nvPr/>
        </p:nvSpPr>
        <p:spPr>
          <a:xfrm>
            <a:off x="658440" y="32551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14224a"/>
                </a:solidFill>
                <a:latin typeface="Meiryo"/>
                <a:ea typeface="Meiryo"/>
              </a:rPr>
              <a:t>送り先判定（偶奇）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22"/>
          <p:cNvSpPr/>
          <p:nvPr/>
        </p:nvSpPr>
        <p:spPr>
          <a:xfrm>
            <a:off x="658440" y="3639240"/>
            <a:ext cx="1416960" cy="566640"/>
          </a:xfrm>
          <a:prstGeom prst="rect">
            <a:avLst/>
          </a:prstGeom>
          <a:solidFill>
            <a:srgbClr val="e2e9f6"/>
          </a:solidFill>
          <a:ln w="19050">
            <a:solidFill>
              <a:srgbClr val="eef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658440" y="363924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Shape 24"/>
          <p:cNvSpPr/>
          <p:nvPr/>
        </p:nvSpPr>
        <p:spPr>
          <a:xfrm>
            <a:off x="2075760" y="3639240"/>
            <a:ext cx="1416960" cy="566640"/>
          </a:xfrm>
          <a:prstGeom prst="rect">
            <a:avLst/>
          </a:prstGeom>
          <a:solidFill>
            <a:srgbClr val="14224a"/>
          </a:solidFill>
          <a:ln w="19050">
            <a:solidFill>
              <a:srgbClr val="eef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25"/>
          <p:cNvSpPr/>
          <p:nvPr/>
        </p:nvSpPr>
        <p:spPr>
          <a:xfrm>
            <a:off x="2075760" y="363924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コイン</a:t>
            </a: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:</a:t>
            </a: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奇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6"/>
          <p:cNvSpPr/>
          <p:nvPr/>
        </p:nvSpPr>
        <p:spPr>
          <a:xfrm>
            <a:off x="3493080" y="3639240"/>
            <a:ext cx="1416960" cy="566640"/>
          </a:xfrm>
          <a:prstGeom prst="rect">
            <a:avLst/>
          </a:prstGeom>
          <a:solidFill>
            <a:srgbClr val="14224a"/>
          </a:solidFill>
          <a:ln w="19050">
            <a:solidFill>
              <a:srgbClr val="eef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27"/>
          <p:cNvSpPr/>
          <p:nvPr/>
        </p:nvSpPr>
        <p:spPr>
          <a:xfrm>
            <a:off x="3493080" y="363924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コイン</a:t>
            </a: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:</a:t>
            </a: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偶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8"/>
          <p:cNvSpPr/>
          <p:nvPr/>
        </p:nvSpPr>
        <p:spPr>
          <a:xfrm>
            <a:off x="658440" y="4206240"/>
            <a:ext cx="1416960" cy="566640"/>
          </a:xfrm>
          <a:prstGeom prst="rect">
            <a:avLst/>
          </a:prstGeom>
          <a:solidFill>
            <a:srgbClr val="27407e"/>
          </a:solidFill>
          <a:ln w="19050">
            <a:solidFill>
              <a:srgbClr val="eef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658440" y="420624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合計</a:t>
            </a: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:</a:t>
            </a: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奇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30"/>
          <p:cNvSpPr/>
          <p:nvPr/>
        </p:nvSpPr>
        <p:spPr>
          <a:xfrm>
            <a:off x="2075760" y="4206240"/>
            <a:ext cx="1416960" cy="566640"/>
          </a:xfrm>
          <a:prstGeom prst="rect">
            <a:avLst/>
          </a:prstGeom>
          <a:solidFill>
            <a:srgbClr val="2e7d52"/>
          </a:solidFill>
          <a:ln w="19050">
            <a:solidFill>
              <a:srgbClr val="eef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31"/>
          <p:cNvSpPr/>
          <p:nvPr/>
        </p:nvSpPr>
        <p:spPr>
          <a:xfrm>
            <a:off x="2075760" y="420624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相手へ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32"/>
          <p:cNvSpPr/>
          <p:nvPr/>
        </p:nvSpPr>
        <p:spPr>
          <a:xfrm>
            <a:off x="3493080" y="4206240"/>
            <a:ext cx="1416960" cy="566640"/>
          </a:xfrm>
          <a:prstGeom prst="rect">
            <a:avLst/>
          </a:prstGeom>
          <a:solidFill>
            <a:srgbClr val="b23a48"/>
          </a:solidFill>
          <a:ln w="19050">
            <a:solidFill>
              <a:srgbClr val="eef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33"/>
          <p:cNvSpPr/>
          <p:nvPr/>
        </p:nvSpPr>
        <p:spPr>
          <a:xfrm>
            <a:off x="3493080" y="420624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自分へ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4"/>
          <p:cNvSpPr/>
          <p:nvPr/>
        </p:nvSpPr>
        <p:spPr>
          <a:xfrm>
            <a:off x="658440" y="4773240"/>
            <a:ext cx="1416960" cy="566640"/>
          </a:xfrm>
          <a:prstGeom prst="rect">
            <a:avLst/>
          </a:prstGeom>
          <a:solidFill>
            <a:srgbClr val="27407e"/>
          </a:solidFill>
          <a:ln w="19050">
            <a:solidFill>
              <a:srgbClr val="eef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35"/>
          <p:cNvSpPr/>
          <p:nvPr/>
        </p:nvSpPr>
        <p:spPr>
          <a:xfrm>
            <a:off x="658440" y="477324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合計</a:t>
            </a: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:</a:t>
            </a: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偶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6"/>
          <p:cNvSpPr/>
          <p:nvPr/>
        </p:nvSpPr>
        <p:spPr>
          <a:xfrm>
            <a:off x="2075760" y="4773240"/>
            <a:ext cx="1416960" cy="566640"/>
          </a:xfrm>
          <a:prstGeom prst="rect">
            <a:avLst/>
          </a:prstGeom>
          <a:solidFill>
            <a:srgbClr val="b23a48"/>
          </a:solidFill>
          <a:ln w="19050">
            <a:solidFill>
              <a:srgbClr val="eef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37"/>
          <p:cNvSpPr/>
          <p:nvPr/>
        </p:nvSpPr>
        <p:spPr>
          <a:xfrm>
            <a:off x="2075760" y="477324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自分へ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8"/>
          <p:cNvSpPr/>
          <p:nvPr/>
        </p:nvSpPr>
        <p:spPr>
          <a:xfrm>
            <a:off x="3493080" y="4773240"/>
            <a:ext cx="1416960" cy="566640"/>
          </a:xfrm>
          <a:prstGeom prst="rect">
            <a:avLst/>
          </a:prstGeom>
          <a:solidFill>
            <a:srgbClr val="2e7d52"/>
          </a:solidFill>
          <a:ln w="19050">
            <a:solidFill>
              <a:srgbClr val="eef2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9"/>
          <p:cNvSpPr/>
          <p:nvPr/>
        </p:nvSpPr>
        <p:spPr>
          <a:xfrm>
            <a:off x="3493080" y="4773240"/>
            <a:ext cx="1416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ffffff"/>
                </a:solidFill>
                <a:latin typeface="Meiryo"/>
                <a:ea typeface="Meiryo"/>
              </a:rPr>
              <a:t>相手へ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40"/>
          <p:cNvSpPr/>
          <p:nvPr/>
        </p:nvSpPr>
        <p:spPr>
          <a:xfrm>
            <a:off x="658440" y="5394960"/>
            <a:ext cx="4251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5c667e"/>
                </a:solidFill>
                <a:latin typeface="Meiryo"/>
                <a:ea typeface="Meiryo"/>
              </a:rPr>
              <a:t>一致 → 相手に命中　／　不一致 → 自分に返る（自爆）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41"/>
          <p:cNvSpPr/>
          <p:nvPr/>
        </p:nvSpPr>
        <p:spPr>
          <a:xfrm>
            <a:off x="5074920" y="32551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14224a"/>
                </a:solidFill>
                <a:latin typeface="Meiryo"/>
                <a:ea typeface="Meiryo"/>
              </a:rPr>
              <a:t>主要システム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42"/>
          <p:cNvSpPr/>
          <p:nvPr/>
        </p:nvSpPr>
        <p:spPr>
          <a:xfrm>
            <a:off x="5074920" y="3639240"/>
            <a:ext cx="2669760" cy="1023840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43"/>
          <p:cNvSpPr/>
          <p:nvPr/>
        </p:nvSpPr>
        <p:spPr>
          <a:xfrm>
            <a:off x="5276160" y="3749040"/>
            <a:ext cx="2304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4224a"/>
                </a:solidFill>
                <a:latin typeface="Meiryo"/>
                <a:ea typeface="Meiryo"/>
              </a:rPr>
              <a:t>デッキ：数字＋レッド＋ゴールド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44"/>
          <p:cNvSpPr/>
          <p:nvPr/>
        </p:nvSpPr>
        <p:spPr>
          <a:xfrm>
            <a:off x="5276160" y="4096440"/>
            <a:ext cx="2304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3c455c"/>
                </a:solidFill>
                <a:latin typeface="Meiryo"/>
                <a:ea typeface="Meiryo"/>
              </a:rPr>
              <a:t>−</a:t>
            </a:r>
            <a:r>
              <a:rPr b="0" lang="en-US" sz="980" spc="-1" strike="noStrike">
                <a:solidFill>
                  <a:srgbClr val="3c455c"/>
                </a:solidFill>
                <a:latin typeface="Meiryo"/>
                <a:ea typeface="Meiryo"/>
              </a:rPr>
              <a:t>9</a:t>
            </a:r>
            <a:r>
              <a:rPr b="0" lang="zh-CN" sz="980" spc="-1" strike="noStrike">
                <a:solidFill>
                  <a:srgbClr val="3c455c"/>
                </a:solidFill>
                <a:latin typeface="Meiryo"/>
                <a:ea typeface="Meiryo"/>
              </a:rPr>
              <a:t>〜</a:t>
            </a:r>
            <a:r>
              <a:rPr b="0" lang="en-US" sz="980" spc="-1" strike="noStrike">
                <a:solidFill>
                  <a:srgbClr val="3c455c"/>
                </a:solidFill>
                <a:latin typeface="Meiryo"/>
                <a:ea typeface="Meiryo"/>
              </a:rPr>
              <a:t>9</a:t>
            </a:r>
            <a:r>
              <a:rPr b="0" lang="zh-CN" sz="980" spc="-1" strike="noStrike">
                <a:solidFill>
                  <a:srgbClr val="3c455c"/>
                </a:solidFill>
                <a:latin typeface="Meiryo"/>
                <a:ea typeface="Meiryo"/>
              </a:rPr>
              <a:t>の数字、色で判る特殊レッド、全</a:t>
            </a:r>
            <a:r>
              <a:rPr b="0" lang="en-US" sz="980" spc="-1" strike="noStrike">
                <a:solidFill>
                  <a:srgbClr val="3c455c"/>
                </a:solidFill>
                <a:latin typeface="Meiryo"/>
                <a:ea typeface="Meiryo"/>
              </a:rPr>
              <a:t>±9</a:t>
            </a:r>
            <a:r>
              <a:rPr b="0" lang="zh-CN" sz="980" spc="-1" strike="noStrike">
                <a:solidFill>
                  <a:srgbClr val="3c455c"/>
                </a:solidFill>
                <a:latin typeface="Meiryo"/>
                <a:ea typeface="Meiryo"/>
              </a:rPr>
              <a:t>化の切り札ゴールド（一発逆転）。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5"/>
          <p:cNvSpPr/>
          <p:nvPr/>
        </p:nvSpPr>
        <p:spPr>
          <a:xfrm>
            <a:off x="7927920" y="3639240"/>
            <a:ext cx="2669760" cy="1023840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46"/>
          <p:cNvSpPr/>
          <p:nvPr/>
        </p:nvSpPr>
        <p:spPr>
          <a:xfrm>
            <a:off x="8129160" y="3749040"/>
            <a:ext cx="2304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4224a"/>
                </a:solidFill>
                <a:latin typeface="Meiryo"/>
                <a:ea typeface="Meiryo"/>
              </a:rPr>
              <a:t>ゾロ目ドローボーナス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7"/>
          <p:cNvSpPr/>
          <p:nvPr/>
        </p:nvSpPr>
        <p:spPr>
          <a:xfrm>
            <a:off x="8129160" y="4096440"/>
            <a:ext cx="2304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zh-CN" sz="980" spc="-1" strike="noStrike">
                <a:solidFill>
                  <a:srgbClr val="3c455c"/>
                </a:solidFill>
                <a:latin typeface="Meiryo"/>
                <a:ea typeface="Meiryo"/>
              </a:rPr>
              <a:t>同じ数字を</a:t>
            </a:r>
            <a:r>
              <a:rPr b="0" lang="en-US" sz="980" spc="-1" strike="noStrike">
                <a:solidFill>
                  <a:srgbClr val="3c455c"/>
                </a:solidFill>
                <a:latin typeface="Meiryo"/>
                <a:ea typeface="Meiryo"/>
              </a:rPr>
              <a:t>2</a:t>
            </a:r>
            <a:r>
              <a:rPr b="0" lang="zh-CN" sz="980" spc="-1" strike="noStrike">
                <a:solidFill>
                  <a:srgbClr val="3c455c"/>
                </a:solidFill>
                <a:latin typeface="Meiryo"/>
                <a:ea typeface="Meiryo"/>
              </a:rPr>
              <a:t>枚で</a:t>
            </a:r>
            <a:r>
              <a:rPr b="0" lang="en-US" sz="980" spc="-1" strike="noStrike">
                <a:solidFill>
                  <a:srgbClr val="3c455c"/>
                </a:solidFill>
                <a:latin typeface="Meiryo"/>
                <a:ea typeface="Meiryo"/>
              </a:rPr>
              <a:t>+1</a:t>
            </a:r>
            <a:r>
              <a:rPr b="0" lang="zh-CN" sz="980" spc="-1" strike="noStrike">
                <a:solidFill>
                  <a:srgbClr val="3c455c"/>
                </a:solidFill>
                <a:latin typeface="Meiryo"/>
                <a:ea typeface="Meiryo"/>
              </a:rPr>
              <a:t>・</a:t>
            </a:r>
            <a:r>
              <a:rPr b="0" lang="en-US" sz="980" spc="-1" strike="noStrike">
                <a:solidFill>
                  <a:srgbClr val="3c455c"/>
                </a:solidFill>
                <a:latin typeface="Meiryo"/>
                <a:ea typeface="Meiryo"/>
              </a:rPr>
              <a:t>3</a:t>
            </a:r>
            <a:r>
              <a:rPr b="0" lang="zh-CN" sz="980" spc="-1" strike="noStrike">
                <a:solidFill>
                  <a:srgbClr val="3c455c"/>
                </a:solidFill>
                <a:latin typeface="Meiryo"/>
                <a:ea typeface="Meiryo"/>
              </a:rPr>
              <a:t>枚で</a:t>
            </a:r>
            <a:r>
              <a:rPr b="0" lang="en-US" sz="980" spc="-1" strike="noStrike">
                <a:solidFill>
                  <a:srgbClr val="3c455c"/>
                </a:solidFill>
                <a:latin typeface="Meiryo"/>
                <a:ea typeface="Meiryo"/>
              </a:rPr>
              <a:t>+2</a:t>
            </a:r>
            <a:r>
              <a:rPr b="0" lang="zh-CN" sz="980" spc="-1" strike="noStrike">
                <a:solidFill>
                  <a:srgbClr val="3c455c"/>
                </a:solidFill>
                <a:latin typeface="Meiryo"/>
                <a:ea typeface="Meiryo"/>
              </a:rPr>
              <a:t>ドロー。火力でなく手札で報いる。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8"/>
          <p:cNvSpPr/>
          <p:nvPr/>
        </p:nvSpPr>
        <p:spPr>
          <a:xfrm>
            <a:off x="5074920" y="4846320"/>
            <a:ext cx="2669760" cy="1023840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49"/>
          <p:cNvSpPr/>
          <p:nvPr/>
        </p:nvSpPr>
        <p:spPr>
          <a:xfrm>
            <a:off x="5276160" y="4956120"/>
            <a:ext cx="2304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4224a"/>
                </a:solidFill>
                <a:latin typeface="Meiryo"/>
                <a:ea typeface="Meiryo"/>
              </a:rPr>
              <a:t>アイテム</a:t>
            </a:r>
            <a:r>
              <a:rPr b="1" lang="en-US" sz="1100" spc="-1" strike="noStrike">
                <a:solidFill>
                  <a:srgbClr val="14224a"/>
                </a:solidFill>
                <a:latin typeface="Meiryo"/>
                <a:ea typeface="Meiryo"/>
              </a:rPr>
              <a:t>3</a:t>
            </a:r>
            <a:r>
              <a:rPr b="1" lang="zh-CN" sz="1100" spc="-1" strike="noStrike">
                <a:solidFill>
                  <a:srgbClr val="14224a"/>
                </a:solidFill>
                <a:latin typeface="Meiryo"/>
                <a:ea typeface="Meiryo"/>
              </a:rPr>
              <a:t>種＋チャージ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50"/>
          <p:cNvSpPr/>
          <p:nvPr/>
        </p:nvSpPr>
        <p:spPr>
          <a:xfrm>
            <a:off x="5276160" y="5303520"/>
            <a:ext cx="2304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zh-CN" sz="980" spc="-1" strike="noStrike">
                <a:solidFill>
                  <a:srgbClr val="3c455c"/>
                </a:solidFill>
                <a:latin typeface="Meiryo"/>
                <a:ea typeface="Meiryo"/>
              </a:rPr>
              <a:t>コイン反転／符号反転／全体シフト。カードを“チャージ”してコストを貯める。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51"/>
          <p:cNvSpPr/>
          <p:nvPr/>
        </p:nvSpPr>
        <p:spPr>
          <a:xfrm>
            <a:off x="7927920" y="4846320"/>
            <a:ext cx="2669760" cy="1023840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52"/>
          <p:cNvSpPr/>
          <p:nvPr/>
        </p:nvSpPr>
        <p:spPr>
          <a:xfrm>
            <a:off x="8129160" y="4956120"/>
            <a:ext cx="2304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4224a"/>
                </a:solidFill>
                <a:latin typeface="Meiryo"/>
                <a:ea typeface="Meiryo"/>
              </a:rPr>
              <a:t>エスカレーション </a:t>
            </a:r>
            <a:r>
              <a:rPr b="1" lang="en-US" sz="1100" spc="-1" strike="noStrike">
                <a:solidFill>
                  <a:srgbClr val="14224a"/>
                </a:solidFill>
                <a:latin typeface="Meiryo"/>
                <a:ea typeface="Meiryo"/>
              </a:rPr>
              <a:t>&amp; HP</a:t>
            </a:r>
            <a:r>
              <a:rPr b="1" lang="zh-CN" sz="1100" spc="-1" strike="noStrike">
                <a:solidFill>
                  <a:srgbClr val="14224a"/>
                </a:solidFill>
                <a:latin typeface="Meiryo"/>
                <a:ea typeface="Meiryo"/>
              </a:rPr>
              <a:t>非公開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53"/>
          <p:cNvSpPr/>
          <p:nvPr/>
        </p:nvSpPr>
        <p:spPr>
          <a:xfrm>
            <a:off x="8129160" y="5303520"/>
            <a:ext cx="2304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zh-CN" sz="980" spc="-1" strike="noStrike">
                <a:solidFill>
                  <a:srgbClr val="3c455c"/>
                </a:solidFill>
                <a:latin typeface="Meiryo"/>
                <a:ea typeface="Meiryo"/>
              </a:rPr>
              <a:t>長引くと全体倍率↑で加速。</a:t>
            </a:r>
            <a:r>
              <a:rPr b="0" lang="en-US" sz="980" spc="-1" strike="noStrike">
                <a:solidFill>
                  <a:srgbClr val="3c455c"/>
                </a:solidFill>
                <a:latin typeface="Meiryo"/>
                <a:ea typeface="Meiryo"/>
              </a:rPr>
              <a:t>HP</a:t>
            </a:r>
            <a:r>
              <a:rPr b="0" lang="zh-CN" sz="980" spc="-1" strike="noStrike">
                <a:solidFill>
                  <a:srgbClr val="3c455c"/>
                </a:solidFill>
                <a:latin typeface="Meiryo"/>
                <a:ea typeface="Meiryo"/>
              </a:rPr>
              <a:t>はゲージと色で“大体”だけ見える。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54"/>
          <p:cNvSpPr/>
          <p:nvPr/>
        </p:nvSpPr>
        <p:spPr>
          <a:xfrm>
            <a:off x="658440" y="6126480"/>
            <a:ext cx="9372240" cy="868320"/>
          </a:xfrm>
          <a:prstGeom prst="roundRect">
            <a:avLst>
              <a:gd name="adj" fmla="val 9474"/>
            </a:avLst>
          </a:prstGeom>
          <a:solidFill>
            <a:srgbClr val="14224a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55"/>
          <p:cNvSpPr/>
          <p:nvPr/>
        </p:nvSpPr>
        <p:spPr>
          <a:xfrm>
            <a:off x="914400" y="6126480"/>
            <a:ext cx="295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e6cc6a"/>
                </a:solidFill>
                <a:latin typeface="Meiryo"/>
                <a:ea typeface="Meiryo"/>
              </a:rPr>
              <a:t>偶奇の賭け　</a:t>
            </a:r>
            <a:r>
              <a:rPr b="0" lang="zh-CN" sz="1100" spc="-1" strike="noStrike">
                <a:solidFill>
                  <a:srgbClr val="cbd5ec"/>
                </a:solidFill>
                <a:latin typeface="Meiryo"/>
                <a:ea typeface="Meiryo"/>
              </a:rPr>
              <a:t>命中か自爆かを読む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6"/>
          <p:cNvSpPr/>
          <p:nvPr/>
        </p:nvSpPr>
        <p:spPr>
          <a:xfrm>
            <a:off x="3940920" y="6355080"/>
            <a:ext cx="360" cy="411480"/>
          </a:xfrm>
          <a:prstGeom prst="line">
            <a:avLst/>
          </a:prstGeom>
          <a:ln w="127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57"/>
          <p:cNvSpPr/>
          <p:nvPr/>
        </p:nvSpPr>
        <p:spPr>
          <a:xfrm>
            <a:off x="4014360" y="6126480"/>
            <a:ext cx="295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e6cc6a"/>
                </a:solidFill>
                <a:latin typeface="Meiryo"/>
                <a:ea typeface="Meiryo"/>
              </a:rPr>
              <a:t>向きの奪い合い　</a:t>
            </a:r>
            <a:r>
              <a:rPr b="0" lang="en-US" sz="1100" spc="-1" strike="noStrike">
                <a:solidFill>
                  <a:srgbClr val="cbd5ec"/>
                </a:solidFill>
                <a:latin typeface="Meiryo"/>
                <a:ea typeface="Meiryo"/>
              </a:rPr>
              <a:t>0</a:t>
            </a:r>
            <a:r>
              <a:rPr b="0" lang="zh-CN" sz="1100" spc="-1" strike="noStrike">
                <a:solidFill>
                  <a:srgbClr val="cbd5ec"/>
                </a:solidFill>
                <a:latin typeface="Meiryo"/>
                <a:ea typeface="Meiryo"/>
              </a:rPr>
              <a:t>狙いと</a:t>
            </a:r>
            <a:r>
              <a:rPr b="0" lang="en-US" sz="1100" spc="-1" strike="noStrike">
                <a:solidFill>
                  <a:srgbClr val="cbd5ec"/>
                </a:solidFill>
                <a:latin typeface="Meiryo"/>
                <a:ea typeface="Meiryo"/>
              </a:rPr>
              <a:t>200</a:t>
            </a:r>
            <a:r>
              <a:rPr b="0" lang="zh-CN" sz="1100" spc="-1" strike="noStrike">
                <a:solidFill>
                  <a:srgbClr val="cbd5ec"/>
                </a:solidFill>
                <a:latin typeface="Meiryo"/>
                <a:ea typeface="Meiryo"/>
              </a:rPr>
              <a:t>狙いを反転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58"/>
          <p:cNvSpPr/>
          <p:nvPr/>
        </p:nvSpPr>
        <p:spPr>
          <a:xfrm>
            <a:off x="7040880" y="6355080"/>
            <a:ext cx="360" cy="411480"/>
          </a:xfrm>
          <a:prstGeom prst="line">
            <a:avLst/>
          </a:prstGeom>
          <a:ln w="127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9"/>
          <p:cNvSpPr/>
          <p:nvPr/>
        </p:nvSpPr>
        <p:spPr>
          <a:xfrm>
            <a:off x="7113960" y="6126480"/>
            <a:ext cx="295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e6cc6a"/>
                </a:solidFill>
                <a:latin typeface="Meiryo"/>
                <a:ea typeface="Meiryo"/>
              </a:rPr>
              <a:t>賭け金の選択　</a:t>
            </a:r>
            <a:r>
              <a:rPr b="0" lang="zh-CN" sz="1100" spc="-1" strike="noStrike">
                <a:solidFill>
                  <a:srgbClr val="cbd5ec"/>
                </a:solidFill>
                <a:latin typeface="Meiryo"/>
                <a:ea typeface="Meiryo"/>
              </a:rPr>
              <a:t>大きく撃つか、守るか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0"/>
          <p:cNvSpPr/>
          <p:nvPr/>
        </p:nvSpPr>
        <p:spPr>
          <a:xfrm>
            <a:off x="8778240" y="4572000"/>
            <a:ext cx="4388760" cy="4388760"/>
          </a:xfrm>
          <a:prstGeom prst="ellipse">
            <a:avLst/>
          </a:prstGeom>
          <a:noFill/>
          <a:ln w="254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"/>
          <p:cNvSpPr/>
          <p:nvPr/>
        </p:nvSpPr>
        <p:spPr>
          <a:xfrm>
            <a:off x="-1280160" y="-1280160"/>
            <a:ext cx="3291480" cy="3291480"/>
          </a:xfrm>
          <a:prstGeom prst="ellipse">
            <a:avLst/>
          </a:prstGeom>
          <a:noFill/>
          <a:ln w="254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640080" y="45720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c9a227"/>
                </a:solidFill>
                <a:latin typeface="Meiryo"/>
                <a:ea typeface="Meiryo"/>
              </a:rPr>
              <a:t>03</a:t>
            </a:r>
            <a:r>
              <a:rPr b="1" lang="zh-CN" sz="2800" spc="-1" strike="noStrike">
                <a:solidFill>
                  <a:srgbClr val="c9a227"/>
                </a:solidFill>
                <a:latin typeface="Meiryo"/>
                <a:ea typeface="Meiryo"/>
              </a:rPr>
              <a:t>　</a:t>
            </a:r>
            <a:r>
              <a:rPr b="1" lang="zh-CN" sz="2800" spc="-1" strike="noStrike">
                <a:solidFill>
                  <a:srgbClr val="ffffff"/>
                </a:solidFill>
                <a:latin typeface="Meiryo"/>
                <a:ea typeface="Meiryo"/>
              </a:rPr>
              <a:t>体験・ビジュアル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658440" y="1417320"/>
            <a:ext cx="4891680" cy="2697120"/>
          </a:xfrm>
          <a:prstGeom prst="roundRect">
            <a:avLst>
              <a:gd name="adj" fmla="val 3051"/>
            </a:avLst>
          </a:prstGeom>
          <a:solidFill>
            <a:srgbClr val="1e3061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914400" y="16459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e6cc6a"/>
                </a:solidFill>
                <a:latin typeface="Meiryo"/>
                <a:ea typeface="Meiryo"/>
              </a:rPr>
              <a:t>情報はミニマル、演出は過剰。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14400" y="2240280"/>
            <a:ext cx="4434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zh-CN" sz="1250" spc="-1" strike="noStrike">
                <a:solidFill>
                  <a:srgbClr val="d2dbf0"/>
                </a:solidFill>
                <a:latin typeface="Meiryo"/>
                <a:ea typeface="Meiryo"/>
              </a:rPr>
              <a:t>読む情報はシンプルに保ち、</a:t>
            </a:r>
            <a:r>
              <a:rPr b="1" lang="zh-CN" sz="1250" spc="-1" strike="noStrike">
                <a:solidFill>
                  <a:srgbClr val="ffffff"/>
                </a:solidFill>
                <a:latin typeface="Meiryo"/>
                <a:ea typeface="Meiryo"/>
              </a:rPr>
              <a:t>結果が確定する一瞬をエフェクトで爆発させる。</a:t>
            </a:r>
            <a:r>
              <a:rPr b="0" lang="zh-CN" sz="1250" spc="-1" strike="noStrike">
                <a:solidFill>
                  <a:srgbClr val="d2dbf0"/>
                </a:solidFill>
                <a:latin typeface="Meiryo"/>
                <a:ea typeface="Meiryo"/>
              </a:rPr>
              <a:t>演出は「いま何が起きたか」を語る、ルールの可視化として設計する。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6"/>
          <p:cNvSpPr/>
          <p:nvPr/>
        </p:nvSpPr>
        <p:spPr>
          <a:xfrm>
            <a:off x="5733360" y="1417320"/>
            <a:ext cx="4297320" cy="2697120"/>
          </a:xfrm>
          <a:prstGeom prst="roundRect">
            <a:avLst>
              <a:gd name="adj" fmla="val 3051"/>
            </a:avLst>
          </a:prstGeom>
          <a:solidFill>
            <a:srgbClr val="1e3061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a133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5989320" y="164592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e6cc6a"/>
                </a:solidFill>
                <a:latin typeface="Meiryo"/>
                <a:ea typeface="Meiryo"/>
              </a:rPr>
              <a:t>ビジュアル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5989320" y="2286000"/>
            <a:ext cx="38401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03040" indent="-203040" defTabSz="914400">
              <a:lnSpc>
                <a:spcPct val="110000"/>
              </a:lnSpc>
              <a:spcAft>
                <a:spcPts val="1001"/>
              </a:spcAft>
              <a:buClr>
                <a:srgbClr val="d2dbf0"/>
              </a:buClr>
              <a:buFont typeface="Symbol" charset="2"/>
              <a:buChar char=""/>
            </a:pPr>
            <a:r>
              <a:rPr b="0" lang="zh-CN" sz="1250" spc="-1" strike="noStrike">
                <a:solidFill>
                  <a:srgbClr val="d2dbf0"/>
                </a:solidFill>
                <a:latin typeface="Meiryo"/>
                <a:ea typeface="Meiryo"/>
              </a:rPr>
              <a:t>荘厳な “ 盤上の賭け ” を </a:t>
            </a:r>
            <a:r>
              <a:rPr b="0" lang="en-US" sz="1250" spc="-1" strike="noStrike">
                <a:solidFill>
                  <a:srgbClr val="d2dbf0"/>
                </a:solidFill>
                <a:latin typeface="Meiryo"/>
                <a:ea typeface="Meiryo"/>
              </a:rPr>
              <a:t>3D </a:t>
            </a:r>
            <a:r>
              <a:rPr b="0" lang="zh-CN" sz="1250" spc="-1" strike="noStrike">
                <a:solidFill>
                  <a:srgbClr val="d2dbf0"/>
                </a:solidFill>
                <a:latin typeface="Meiryo"/>
                <a:ea typeface="Meiryo"/>
              </a:rPr>
              <a:t>で描く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spcAft>
                <a:spcPts val="1001"/>
              </a:spcAft>
              <a:buClr>
                <a:srgbClr val="d2dbf0"/>
              </a:buClr>
              <a:buFont typeface="Symbol" charset="2"/>
              <a:buChar char=""/>
            </a:pPr>
            <a:r>
              <a:rPr b="0" lang="zh-CN" sz="1250" spc="-1" strike="noStrike">
                <a:solidFill>
                  <a:srgbClr val="d2dbf0"/>
                </a:solidFill>
                <a:latin typeface="Meiryo"/>
                <a:ea typeface="Meiryo"/>
              </a:rPr>
              <a:t>配色は 金 </a:t>
            </a:r>
            <a:r>
              <a:rPr b="0" lang="en-US" sz="1250" spc="-1" strike="noStrike">
                <a:solidFill>
                  <a:srgbClr val="d2dbf0"/>
                </a:solidFill>
                <a:latin typeface="Meiryo"/>
                <a:ea typeface="Meiryo"/>
              </a:rPr>
              <a:t>× </a:t>
            </a:r>
            <a:r>
              <a:rPr b="0" lang="zh-CN" sz="1250" spc="-1" strike="noStrike">
                <a:solidFill>
                  <a:srgbClr val="d2dbf0"/>
                </a:solidFill>
                <a:latin typeface="Meiryo"/>
                <a:ea typeface="Meiryo"/>
              </a:rPr>
              <a:t>紺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spcAft>
                <a:spcPts val="1001"/>
              </a:spcAft>
              <a:buClr>
                <a:srgbClr val="d2dbf0"/>
              </a:buClr>
              <a:buFont typeface="Symbol" charset="2"/>
              <a:buChar char=""/>
            </a:pPr>
            <a:r>
              <a:rPr b="0" lang="zh-CN" sz="1250" spc="-1" strike="noStrike">
                <a:solidFill>
                  <a:srgbClr val="d2dbf0"/>
                </a:solidFill>
                <a:latin typeface="Meiryo"/>
                <a:ea typeface="Meiryo"/>
              </a:rPr>
              <a:t>コイン・天秤・二極のモチーフ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658440" y="43434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cc6a"/>
                </a:solidFill>
                <a:latin typeface="Meiryo"/>
                <a:ea typeface="Meiryo"/>
              </a:rPr>
              <a:t>エフェクト＝ルールの可視化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0"/>
          <p:cNvSpPr/>
          <p:nvPr/>
        </p:nvSpPr>
        <p:spPr>
          <a:xfrm>
            <a:off x="658440" y="4754880"/>
            <a:ext cx="2034360" cy="685440"/>
          </a:xfrm>
          <a:prstGeom prst="roundRect">
            <a:avLst>
              <a:gd name="adj" fmla="val 13333"/>
            </a:avLst>
          </a:prstGeom>
          <a:solidFill>
            <a:srgbClr val="1e3061"/>
          </a:solidFill>
          <a:ln w="127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658440" y="4754880"/>
            <a:ext cx="203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pc="-1" strike="noStrike">
                <a:solidFill>
                  <a:srgbClr val="dce4f4"/>
                </a:solidFill>
                <a:latin typeface="Meiryo"/>
                <a:ea typeface="Meiryo"/>
              </a:rPr>
              <a:t>コインの回転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2"/>
          <p:cNvSpPr/>
          <p:nvPr/>
        </p:nvSpPr>
        <p:spPr>
          <a:xfrm>
            <a:off x="3104280" y="4754880"/>
            <a:ext cx="2034360" cy="685440"/>
          </a:xfrm>
          <a:prstGeom prst="roundRect">
            <a:avLst>
              <a:gd name="adj" fmla="val 13333"/>
            </a:avLst>
          </a:prstGeom>
          <a:solidFill>
            <a:srgbClr val="1e3061"/>
          </a:solidFill>
          <a:ln w="127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3104280" y="4754880"/>
            <a:ext cx="203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pc="-1" strike="noStrike">
                <a:solidFill>
                  <a:srgbClr val="dce4f4"/>
                </a:solidFill>
                <a:latin typeface="Meiryo"/>
                <a:ea typeface="Meiryo"/>
              </a:rPr>
              <a:t>当たり偶奇の閃光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14"/>
          <p:cNvSpPr/>
          <p:nvPr/>
        </p:nvSpPr>
        <p:spPr>
          <a:xfrm>
            <a:off x="5550480" y="4754880"/>
            <a:ext cx="2034360" cy="685440"/>
          </a:xfrm>
          <a:prstGeom prst="roundRect">
            <a:avLst>
              <a:gd name="adj" fmla="val 13333"/>
            </a:avLst>
          </a:prstGeom>
          <a:solidFill>
            <a:srgbClr val="1e3061"/>
          </a:solidFill>
          <a:ln w="127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5550480" y="4754880"/>
            <a:ext cx="203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e4f4"/>
                </a:solidFill>
                <a:latin typeface="Meiryo"/>
                <a:ea typeface="Meiryo"/>
              </a:rPr>
              <a:t>±45 </a:t>
            </a:r>
            <a:r>
              <a:rPr b="1" lang="zh-CN" sz="1200" spc="-1" strike="noStrike">
                <a:solidFill>
                  <a:srgbClr val="dce4f4"/>
                </a:solidFill>
                <a:latin typeface="Meiryo"/>
                <a:ea typeface="Meiryo"/>
              </a:rPr>
              <a:t>の金の奔流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16"/>
          <p:cNvSpPr/>
          <p:nvPr/>
        </p:nvSpPr>
        <p:spPr>
          <a:xfrm>
            <a:off x="7996320" y="4754880"/>
            <a:ext cx="2034360" cy="685440"/>
          </a:xfrm>
          <a:prstGeom prst="roundRect">
            <a:avLst>
              <a:gd name="adj" fmla="val 13333"/>
            </a:avLst>
          </a:prstGeom>
          <a:solidFill>
            <a:srgbClr val="1e3061"/>
          </a:solidFill>
          <a:ln w="12700">
            <a:solidFill>
              <a:srgbClr val="2740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7"/>
          <p:cNvSpPr/>
          <p:nvPr/>
        </p:nvSpPr>
        <p:spPr>
          <a:xfrm>
            <a:off x="7996320" y="4754880"/>
            <a:ext cx="2034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pc="-1" strike="noStrike">
                <a:solidFill>
                  <a:srgbClr val="dce4f4"/>
                </a:solidFill>
                <a:latin typeface="Meiryo"/>
                <a:ea typeface="Meiryo"/>
              </a:rPr>
              <a:t>自爆の暗転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18"/>
          <p:cNvSpPr/>
          <p:nvPr/>
        </p:nvSpPr>
        <p:spPr>
          <a:xfrm>
            <a:off x="2967120" y="5989320"/>
            <a:ext cx="4754520" cy="36360"/>
          </a:xfrm>
          <a:prstGeom prst="rect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9"/>
          <p:cNvSpPr/>
          <p:nvPr/>
        </p:nvSpPr>
        <p:spPr>
          <a:xfrm>
            <a:off x="0" y="6172200"/>
            <a:ext cx="10689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600" spc="-1" strike="noStrike">
                <a:solidFill>
                  <a:srgbClr val="ffffff"/>
                </a:solidFill>
                <a:latin typeface="Meiryo"/>
                <a:ea typeface="Meiryo"/>
              </a:rPr>
              <a:t>一手で、天国と地獄が入れ替わる。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0"/>
          <p:cNvSpPr/>
          <p:nvPr/>
        </p:nvSpPr>
        <p:spPr>
          <a:xfrm>
            <a:off x="0" y="6858000"/>
            <a:ext cx="10689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daac9"/>
                </a:solidFill>
                <a:latin typeface="Meiryo"/>
                <a:ea typeface="Meiryo"/>
              </a:rPr>
              <a:t>±9</a:t>
            </a:r>
            <a:r>
              <a:rPr b="0" lang="zh-CN" sz="1200" spc="-1" strike="noStrike">
                <a:solidFill>
                  <a:srgbClr val="9daac9"/>
                </a:solidFill>
                <a:latin typeface="Meiryo"/>
                <a:ea typeface="Meiryo"/>
              </a:rPr>
              <a:t>（プラマイ・ナイン）　／　チーム名：</a:t>
            </a:r>
            <a:r>
              <a:rPr b="0" lang="en-US" sz="1200" spc="-1" strike="noStrike">
                <a:solidFill>
                  <a:srgbClr val="9daac9"/>
                </a:solidFill>
                <a:latin typeface="Meiryo"/>
                <a:ea typeface="Meiryo"/>
              </a:rPr>
              <a:t>Noad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2026-06-17T07:55:07Z</dcterms:created>
  <dc:creator>Team Noad</dc:creator>
  <dc:description/>
  <dc:language>en-US</dc:language>
  <cp:lastModifiedBy>Team Noad</cp:lastModifiedBy>
  <dcterms:modified xsi:type="dcterms:W3CDTF">2026-06-17T07:55:07Z</dcterms:modified>
  <cp:revision>1</cp:revision>
  <dc:subject>PptxGenJS Presentation</dc:subject>
  <dc:title>±9 プラマイ・ナイン 企画書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</vt:r8>
  </property>
  <property fmtid="{D5CDD505-2E9C-101B-9397-08002B2CF9AE}" pid="3" name="PresentationFormat">
    <vt:lpwstr>On-screen Show (16:9)</vt:lpwstr>
  </property>
  <property fmtid="{D5CDD505-2E9C-101B-9397-08002B2CF9AE}" pid="4" name="Slides">
    <vt:r8>4</vt:r8>
  </property>
</Properties>
</file>